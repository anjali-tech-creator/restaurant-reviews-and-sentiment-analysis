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9" r:id="rId1"/>
  </p:sldMasterIdLst>
  <p:sldIdLst>
    <p:sldId id="256" r:id="rId2"/>
    <p:sldId id="271" r:id="rId3"/>
    <p:sldId id="257" r:id="rId4"/>
    <p:sldId id="269" r:id="rId5"/>
    <p:sldId id="260" r:id="rId6"/>
    <p:sldId id="272" r:id="rId7"/>
    <p:sldId id="261" r:id="rId8"/>
    <p:sldId id="264" r:id="rId9"/>
    <p:sldId id="267" r:id="rId10"/>
    <p:sldId id="27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28FEC1-EA33-4665-803D-10E9F7611C56}" v="6" dt="2024-04-05T16:20:32.7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JALI BADAVATH" userId="bb289d3eac6a56f7" providerId="LiveId" clId="{6B28FEC1-EA33-4665-803D-10E9F7611C56}"/>
    <pc:docChg chg="undo custSel addSld modSld">
      <pc:chgData name="ANJALI BADAVATH" userId="bb289d3eac6a56f7" providerId="LiveId" clId="{6B28FEC1-EA33-4665-803D-10E9F7611C56}" dt="2024-04-06T06:10:52.182" v="205" actId="20577"/>
      <pc:docMkLst>
        <pc:docMk/>
      </pc:docMkLst>
      <pc:sldChg chg="modSp mod">
        <pc:chgData name="ANJALI BADAVATH" userId="bb289d3eac6a56f7" providerId="LiveId" clId="{6B28FEC1-EA33-4665-803D-10E9F7611C56}" dt="2024-04-06T06:10:52.182" v="205" actId="20577"/>
        <pc:sldMkLst>
          <pc:docMk/>
          <pc:sldMk cId="2565430946" sldId="269"/>
        </pc:sldMkLst>
        <pc:spChg chg="mod">
          <ac:chgData name="ANJALI BADAVATH" userId="bb289d3eac6a56f7" providerId="LiveId" clId="{6B28FEC1-EA33-4665-803D-10E9F7611C56}" dt="2024-04-06T06:10:52.182" v="205" actId="20577"/>
          <ac:spMkLst>
            <pc:docMk/>
            <pc:sldMk cId="2565430946" sldId="269"/>
            <ac:spMk id="2" creationId="{00000000-0000-0000-0000-000000000000}"/>
          </ac:spMkLst>
        </pc:spChg>
      </pc:sldChg>
      <pc:sldChg chg="addSp modSp new mod">
        <pc:chgData name="ANJALI BADAVATH" userId="bb289d3eac6a56f7" providerId="LiveId" clId="{6B28FEC1-EA33-4665-803D-10E9F7611C56}" dt="2024-04-06T06:10:16.489" v="186" actId="20577"/>
        <pc:sldMkLst>
          <pc:docMk/>
          <pc:sldMk cId="3622237521" sldId="271"/>
        </pc:sldMkLst>
        <pc:spChg chg="add mod">
          <ac:chgData name="ANJALI BADAVATH" userId="bb289d3eac6a56f7" providerId="LiveId" clId="{6B28FEC1-EA33-4665-803D-10E9F7611C56}" dt="2024-04-05T16:00:25.434" v="18" actId="20577"/>
          <ac:spMkLst>
            <pc:docMk/>
            <pc:sldMk cId="3622237521" sldId="271"/>
            <ac:spMk id="2" creationId="{05FD370C-FAFC-F31F-79ED-5134CBD85A43}"/>
          </ac:spMkLst>
        </pc:spChg>
        <pc:spChg chg="add mod">
          <ac:chgData name="ANJALI BADAVATH" userId="bb289d3eac6a56f7" providerId="LiveId" clId="{6B28FEC1-EA33-4665-803D-10E9F7611C56}" dt="2024-04-06T06:10:16.489" v="186" actId="20577"/>
          <ac:spMkLst>
            <pc:docMk/>
            <pc:sldMk cId="3622237521" sldId="271"/>
            <ac:spMk id="3" creationId="{3B728D47-3150-5768-EE23-D924A317FCC5}"/>
          </ac:spMkLst>
        </pc:spChg>
        <pc:picChg chg="add mod">
          <ac:chgData name="ANJALI BADAVATH" userId="bb289d3eac6a56f7" providerId="LiveId" clId="{6B28FEC1-EA33-4665-803D-10E9F7611C56}" dt="2024-04-05T16:17:48.188" v="144" actId="14100"/>
          <ac:picMkLst>
            <pc:docMk/>
            <pc:sldMk cId="3622237521" sldId="271"/>
            <ac:picMk id="5" creationId="{47275012-CC7B-F3D3-01D6-57703B8FB09D}"/>
          </ac:picMkLst>
        </pc:picChg>
      </pc:sldChg>
      <pc:sldChg chg="addSp modSp new mod">
        <pc:chgData name="ANJALI BADAVATH" userId="bb289d3eac6a56f7" providerId="LiveId" clId="{6B28FEC1-EA33-4665-803D-10E9F7611C56}" dt="2024-04-05T16:21:16.815" v="163" actId="1076"/>
        <pc:sldMkLst>
          <pc:docMk/>
          <pc:sldMk cId="189221612" sldId="272"/>
        </pc:sldMkLst>
        <pc:picChg chg="add mod">
          <ac:chgData name="ANJALI BADAVATH" userId="bb289d3eac6a56f7" providerId="LiveId" clId="{6B28FEC1-EA33-4665-803D-10E9F7611C56}" dt="2024-04-05T16:21:05.669" v="161" actId="1076"/>
          <ac:picMkLst>
            <pc:docMk/>
            <pc:sldMk cId="189221612" sldId="272"/>
            <ac:picMk id="3" creationId="{08ECA54C-57D0-3472-D751-4C78F668451F}"/>
          </ac:picMkLst>
        </pc:picChg>
        <pc:picChg chg="add mod">
          <ac:chgData name="ANJALI BADAVATH" userId="bb289d3eac6a56f7" providerId="LiveId" clId="{6B28FEC1-EA33-4665-803D-10E9F7611C56}" dt="2024-04-05T16:21:16.815" v="163" actId="1076"/>
          <ac:picMkLst>
            <pc:docMk/>
            <pc:sldMk cId="189221612" sldId="272"/>
            <ac:picMk id="5" creationId="{39D57F55-192B-D4D7-9D72-003DC27DD2C9}"/>
          </ac:picMkLst>
        </pc:picChg>
      </pc:sldChg>
    </pc:docChg>
  </pc:docChgLst>
  <pc:docChgLst>
    <pc:chgData name="ANJALI BADAVATH" userId="bb289d3eac6a56f7" providerId="LiveId" clId="{9B2B5B6D-A8DE-41DB-A572-15C02FBC2218}"/>
    <pc:docChg chg="custSel modSld">
      <pc:chgData name="ANJALI BADAVATH" userId="bb289d3eac6a56f7" providerId="LiveId" clId="{9B2B5B6D-A8DE-41DB-A572-15C02FBC2218}" dt="2023-11-25T05:31:39.475" v="188" actId="20577"/>
      <pc:docMkLst>
        <pc:docMk/>
      </pc:docMkLst>
      <pc:sldChg chg="modSp mod">
        <pc:chgData name="ANJALI BADAVATH" userId="bb289d3eac6a56f7" providerId="LiveId" clId="{9B2B5B6D-A8DE-41DB-A572-15C02FBC2218}" dt="2023-11-25T05:31:39.475" v="188" actId="20577"/>
        <pc:sldMkLst>
          <pc:docMk/>
          <pc:sldMk cId="0" sldId="256"/>
        </pc:sldMkLst>
        <pc:spChg chg="mod">
          <ac:chgData name="ANJALI BADAVATH" userId="bb289d3eac6a56f7" providerId="LiveId" clId="{9B2B5B6D-A8DE-41DB-A572-15C02FBC2218}" dt="2023-11-25T05:31:32.929" v="187" actId="20577"/>
          <ac:spMkLst>
            <pc:docMk/>
            <pc:sldMk cId="0" sldId="256"/>
            <ac:spMk id="3" creationId="{00000000-0000-0000-0000-000000000000}"/>
          </ac:spMkLst>
        </pc:spChg>
        <pc:spChg chg="mod">
          <ac:chgData name="ANJALI BADAVATH" userId="bb289d3eac6a56f7" providerId="LiveId" clId="{9B2B5B6D-A8DE-41DB-A572-15C02FBC2218}" dt="2023-11-25T05:31:39.475" v="188" actId="20577"/>
          <ac:spMkLst>
            <pc:docMk/>
            <pc:sldMk cId="0" sldId="256"/>
            <ac:spMk id="4" creationId="{00000000-0000-0000-0000-000000000000}"/>
          </ac:spMkLst>
        </pc:spChg>
      </pc:sldChg>
      <pc:sldChg chg="modSp mod">
        <pc:chgData name="ANJALI BADAVATH" userId="bb289d3eac6a56f7" providerId="LiveId" clId="{9B2B5B6D-A8DE-41DB-A572-15C02FBC2218}" dt="2023-11-25T05:29:18.140" v="184"/>
        <pc:sldMkLst>
          <pc:docMk/>
          <pc:sldMk cId="0" sldId="257"/>
        </pc:sldMkLst>
        <pc:spChg chg="mod">
          <ac:chgData name="ANJALI BADAVATH" userId="bb289d3eac6a56f7" providerId="LiveId" clId="{9B2B5B6D-A8DE-41DB-A572-15C02FBC2218}" dt="2023-11-25T05:29:18.140" v="184"/>
          <ac:spMkLst>
            <pc:docMk/>
            <pc:sldMk cId="0" sldId="257"/>
            <ac:spMk id="2" creationId="{00000000-0000-0000-0000-000000000000}"/>
          </ac:spMkLst>
        </pc:spChg>
        <pc:spChg chg="mod">
          <ac:chgData name="ANJALI BADAVATH" userId="bb289d3eac6a56f7" providerId="LiveId" clId="{9B2B5B6D-A8DE-41DB-A572-15C02FBC2218}" dt="2023-11-25T05:15:28.548" v="140" actId="27636"/>
          <ac:spMkLst>
            <pc:docMk/>
            <pc:sldMk cId="0" sldId="257"/>
            <ac:spMk id="3" creationId="{00000000-0000-0000-0000-000000000000}"/>
          </ac:spMkLst>
        </pc:spChg>
      </pc:sldChg>
      <pc:sldChg chg="modSp mod">
        <pc:chgData name="ANJALI BADAVATH" userId="bb289d3eac6a56f7" providerId="LiveId" clId="{9B2B5B6D-A8DE-41DB-A572-15C02FBC2218}" dt="2023-11-25T05:29:18.140" v="184"/>
        <pc:sldMkLst>
          <pc:docMk/>
          <pc:sldMk cId="0" sldId="260"/>
        </pc:sldMkLst>
        <pc:spChg chg="mod">
          <ac:chgData name="ANJALI BADAVATH" userId="bb289d3eac6a56f7" providerId="LiveId" clId="{9B2B5B6D-A8DE-41DB-A572-15C02FBC2218}" dt="2023-11-25T05:29:18.140" v="184"/>
          <ac:spMkLst>
            <pc:docMk/>
            <pc:sldMk cId="0" sldId="260"/>
            <ac:spMk id="2" creationId="{00000000-0000-0000-0000-000000000000}"/>
          </ac:spMkLst>
        </pc:spChg>
        <pc:spChg chg="mod">
          <ac:chgData name="ANJALI BADAVATH" userId="bb289d3eac6a56f7" providerId="LiveId" clId="{9B2B5B6D-A8DE-41DB-A572-15C02FBC2218}" dt="2023-11-25T05:28:05.847" v="183" actId="207"/>
          <ac:spMkLst>
            <pc:docMk/>
            <pc:sldMk cId="0" sldId="260"/>
            <ac:spMk id="3" creationId="{00000000-0000-0000-0000-000000000000}"/>
          </ac:spMkLst>
        </pc:spChg>
      </pc:sldChg>
      <pc:sldChg chg="modSp mod">
        <pc:chgData name="ANJALI BADAVATH" userId="bb289d3eac6a56f7" providerId="LiveId" clId="{9B2B5B6D-A8DE-41DB-A572-15C02FBC2218}" dt="2023-11-25T05:23:02.180" v="165" actId="207"/>
        <pc:sldMkLst>
          <pc:docMk/>
          <pc:sldMk cId="0" sldId="261"/>
        </pc:sldMkLst>
        <pc:spChg chg="mod">
          <ac:chgData name="ANJALI BADAVATH" userId="bb289d3eac6a56f7" providerId="LiveId" clId="{9B2B5B6D-A8DE-41DB-A572-15C02FBC2218}" dt="2023-11-25T05:17:55.123" v="151" actId="1076"/>
          <ac:spMkLst>
            <pc:docMk/>
            <pc:sldMk cId="0" sldId="261"/>
            <ac:spMk id="2" creationId="{00000000-0000-0000-0000-000000000000}"/>
          </ac:spMkLst>
        </pc:spChg>
        <pc:spChg chg="mod">
          <ac:chgData name="ANJALI BADAVATH" userId="bb289d3eac6a56f7" providerId="LiveId" clId="{9B2B5B6D-A8DE-41DB-A572-15C02FBC2218}" dt="2023-11-25T05:23:02.180" v="165" actId="207"/>
          <ac:spMkLst>
            <pc:docMk/>
            <pc:sldMk cId="0" sldId="261"/>
            <ac:spMk id="3" creationId="{00000000-0000-0000-0000-000000000000}"/>
          </ac:spMkLst>
        </pc:spChg>
      </pc:sldChg>
      <pc:sldChg chg="modSp">
        <pc:chgData name="ANJALI BADAVATH" userId="bb289d3eac6a56f7" providerId="LiveId" clId="{9B2B5B6D-A8DE-41DB-A572-15C02FBC2218}" dt="2023-11-25T05:29:18.140" v="184"/>
        <pc:sldMkLst>
          <pc:docMk/>
          <pc:sldMk cId="0" sldId="264"/>
        </pc:sldMkLst>
        <pc:spChg chg="mod">
          <ac:chgData name="ANJALI BADAVATH" userId="bb289d3eac6a56f7" providerId="LiveId" clId="{9B2B5B6D-A8DE-41DB-A572-15C02FBC2218}" dt="2023-11-25T05:29:18.140" v="184"/>
          <ac:spMkLst>
            <pc:docMk/>
            <pc:sldMk cId="0" sldId="264"/>
            <ac:spMk id="2" creationId="{00000000-0000-0000-0000-000000000000}"/>
          </ac:spMkLst>
        </pc:spChg>
      </pc:sldChg>
      <pc:sldChg chg="modSp mod">
        <pc:chgData name="ANJALI BADAVATH" userId="bb289d3eac6a56f7" providerId="LiveId" clId="{9B2B5B6D-A8DE-41DB-A572-15C02FBC2218}" dt="2023-11-25T05:29:18.140" v="184"/>
        <pc:sldMkLst>
          <pc:docMk/>
          <pc:sldMk cId="0" sldId="267"/>
        </pc:sldMkLst>
        <pc:spChg chg="mod">
          <ac:chgData name="ANJALI BADAVATH" userId="bb289d3eac6a56f7" providerId="LiveId" clId="{9B2B5B6D-A8DE-41DB-A572-15C02FBC2218}" dt="2023-11-25T05:29:18.140" v="184"/>
          <ac:spMkLst>
            <pc:docMk/>
            <pc:sldMk cId="0" sldId="267"/>
            <ac:spMk id="2" creationId="{00000000-0000-0000-0000-000000000000}"/>
          </ac:spMkLst>
        </pc:spChg>
        <pc:spChg chg="mod">
          <ac:chgData name="ANJALI BADAVATH" userId="bb289d3eac6a56f7" providerId="LiveId" clId="{9B2B5B6D-A8DE-41DB-A572-15C02FBC2218}" dt="2023-11-25T05:23:45.354" v="168" actId="2711"/>
          <ac:spMkLst>
            <pc:docMk/>
            <pc:sldMk cId="0" sldId="267"/>
            <ac:spMk id="3" creationId="{00000000-0000-0000-0000-000000000000}"/>
          </ac:spMkLst>
        </pc:spChg>
      </pc:sldChg>
      <pc:sldChg chg="modSp">
        <pc:chgData name="ANJALI BADAVATH" userId="bb289d3eac6a56f7" providerId="LiveId" clId="{9B2B5B6D-A8DE-41DB-A572-15C02FBC2218}" dt="2023-11-25T05:29:18.140" v="184"/>
        <pc:sldMkLst>
          <pc:docMk/>
          <pc:sldMk cId="2116035506" sldId="270"/>
        </pc:sldMkLst>
        <pc:spChg chg="mod">
          <ac:chgData name="ANJALI BADAVATH" userId="bb289d3eac6a56f7" providerId="LiveId" clId="{9B2B5B6D-A8DE-41DB-A572-15C02FBC2218}" dt="2023-11-25T05:29:18.140" v="184"/>
          <ac:spMkLst>
            <pc:docMk/>
            <pc:sldMk cId="2116035506" sldId="270"/>
            <ac:spMk id="3" creationId="{C1A8E924-F92E-BA20-5D7B-438503BF4A9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5/3/2024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057223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5/3/2024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80948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5/3/2024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950542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A1C593-65D0-4073-BCC9-577B9352EA97}"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627128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A1C593-65D0-4073-BCC9-577B9352EA97}" type="datetimeFigureOut">
              <a:rPr lang="en-US" smtClean="0"/>
              <a:t>5/3/2024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15388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A1C593-65D0-4073-BCC9-577B9352EA97}" type="datetimeFigureOut">
              <a:rPr lang="en-US" smtClean="0"/>
              <a:t>5/3/2024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52021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5/3/2024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47894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11589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885706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5/3/2024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24682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5/3/2024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B618960-8005-486C-9A75-10CB2AAC16F9}"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55132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89591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618960-8005-486C-9A75-10CB2AAC16F9}"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711666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5/3/2024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36897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5/3/2024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209364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5/3/2024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21706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3A1C593-65D0-4073-BCC9-577B9352EA97}" type="datetimeFigureOut">
              <a:rPr lang="en-US" smtClean="0"/>
              <a:t>5/3/2024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354902921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87500" y="454978"/>
            <a:ext cx="9144000" cy="2387600"/>
          </a:xfrm>
        </p:spPr>
        <p:txBody>
          <a:bodyPr>
            <a:normAutofit/>
          </a:bodyPr>
          <a:lstStyle/>
          <a:p>
            <a:r>
              <a:rPr lang="en-US" sz="3890" b="1" dirty="0">
                <a:latin typeface="Times New Roman" panose="02020603050405020304" charset="0"/>
                <a:cs typeface="Times New Roman" panose="02020603050405020304" charset="0"/>
              </a:rPr>
              <a:t> ZOMATO RESTAURENT REVIEWS AND SENTIMENT ANALYSIS</a:t>
            </a:r>
          </a:p>
        </p:txBody>
      </p:sp>
      <p:sp>
        <p:nvSpPr>
          <p:cNvPr id="3" name="Subtitle 2"/>
          <p:cNvSpPr>
            <a:spLocks noGrp="1"/>
          </p:cNvSpPr>
          <p:nvPr>
            <p:ph type="subTitle" idx="1"/>
          </p:nvPr>
        </p:nvSpPr>
        <p:spPr>
          <a:xfrm>
            <a:off x="7522845" y="3867468"/>
            <a:ext cx="9144000" cy="1655762"/>
          </a:xfrm>
        </p:spPr>
        <p:txBody>
          <a:bodyPr>
            <a:normAutofit/>
          </a:bodyPr>
          <a:lstStyle/>
          <a:p>
            <a:pPr algn="l"/>
            <a:r>
              <a:rPr lang="en-US" dirty="0"/>
              <a:t>20C91A0507 B. Anjali</a:t>
            </a:r>
          </a:p>
          <a:p>
            <a:pPr algn="l"/>
            <a:r>
              <a:rPr lang="en-US" dirty="0"/>
              <a:t>20C91A0539 P. Kavitha</a:t>
            </a:r>
          </a:p>
          <a:p>
            <a:pPr algn="l"/>
            <a:r>
              <a:rPr lang="en-US" dirty="0"/>
              <a:t>20C91A0534 M. Malvika</a:t>
            </a:r>
          </a:p>
        </p:txBody>
      </p:sp>
      <p:sp>
        <p:nvSpPr>
          <p:cNvPr id="4" name="Text Box 3"/>
          <p:cNvSpPr txBox="1"/>
          <p:nvPr/>
        </p:nvSpPr>
        <p:spPr>
          <a:xfrm>
            <a:off x="1587500" y="5902960"/>
            <a:ext cx="8641715" cy="645160"/>
          </a:xfrm>
          <a:prstGeom prst="rect">
            <a:avLst/>
          </a:prstGeom>
          <a:noFill/>
        </p:spPr>
        <p:txBody>
          <a:bodyPr wrap="square" rtlCol="0">
            <a:spAutoFit/>
          </a:bodyPr>
          <a:lstStyle/>
          <a:p>
            <a:r>
              <a:rPr lang="en-US" dirty="0"/>
              <a:t>UNDER THE GUIDANCE </a:t>
            </a:r>
          </a:p>
          <a:p>
            <a:r>
              <a:rPr lang="en-US" dirty="0" err="1"/>
              <a:t>Mrs</a:t>
            </a:r>
            <a:r>
              <a:rPr lang="en-US" dirty="0"/>
              <a:t> .Ch. Vijaya Jyothi Mam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FD370C-FAFC-F31F-79ED-5134CBD85A43}"/>
              </a:ext>
            </a:extLst>
          </p:cNvPr>
          <p:cNvSpPr txBox="1"/>
          <p:nvPr/>
        </p:nvSpPr>
        <p:spPr>
          <a:xfrm>
            <a:off x="2397967" y="681135"/>
            <a:ext cx="227667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Contents</a:t>
            </a:r>
          </a:p>
          <a:p>
            <a:endParaRPr lang="en-IN" sz="3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B728D47-3150-5768-EE23-D924A317FCC5}"/>
              </a:ext>
            </a:extLst>
          </p:cNvPr>
          <p:cNvSpPr txBox="1"/>
          <p:nvPr/>
        </p:nvSpPr>
        <p:spPr>
          <a:xfrm>
            <a:off x="1847461" y="1881464"/>
            <a:ext cx="2771913" cy="2308324"/>
          </a:xfrm>
          <a:prstGeom prst="rect">
            <a:avLst/>
          </a:prstGeom>
          <a:noFill/>
        </p:spPr>
        <p:txBody>
          <a:bodyPr wrap="none" rtlCol="0">
            <a:spAutoFit/>
          </a:bodyPr>
          <a:lstStyle/>
          <a:p>
            <a:pPr marL="285750" indent="-285750">
              <a:buFont typeface="Wingdings" panose="05000000000000000000" pitchFamily="2" charset="2"/>
              <a:buChar char="Ø"/>
            </a:pPr>
            <a:r>
              <a:rPr lang="en-US" dirty="0"/>
              <a:t>Abstract</a:t>
            </a:r>
          </a:p>
          <a:p>
            <a:pPr marL="285750" indent="-285750">
              <a:buFont typeface="Wingdings" panose="05000000000000000000" pitchFamily="2" charset="2"/>
              <a:buChar char="Ø"/>
            </a:pPr>
            <a:r>
              <a:rPr lang="en-US" dirty="0"/>
              <a:t>Introduction</a:t>
            </a:r>
          </a:p>
          <a:p>
            <a:pPr marL="285750" indent="-285750">
              <a:buFont typeface="Wingdings" panose="05000000000000000000" pitchFamily="2" charset="2"/>
              <a:buChar char="Ø"/>
            </a:pPr>
            <a:r>
              <a:rPr lang="en-US" dirty="0"/>
              <a:t>Existing System</a:t>
            </a:r>
          </a:p>
          <a:p>
            <a:pPr marL="285750" indent="-285750">
              <a:buFont typeface="Wingdings" panose="05000000000000000000" pitchFamily="2" charset="2"/>
              <a:buChar char="Ø"/>
            </a:pPr>
            <a:r>
              <a:rPr lang="en-US" dirty="0"/>
              <a:t>Proposed System</a:t>
            </a:r>
          </a:p>
          <a:p>
            <a:endParaRPr lang="en-US" dirty="0"/>
          </a:p>
          <a:p>
            <a:pPr marL="285750" indent="-285750">
              <a:buFont typeface="Wingdings" panose="05000000000000000000" pitchFamily="2" charset="2"/>
              <a:buChar char="Ø"/>
            </a:pPr>
            <a:r>
              <a:rPr lang="en-US" dirty="0"/>
              <a:t>System Architecture</a:t>
            </a:r>
          </a:p>
          <a:p>
            <a:pPr marL="285750" indent="-285750">
              <a:buFont typeface="Wingdings" panose="05000000000000000000" pitchFamily="2" charset="2"/>
              <a:buChar char="Ø"/>
            </a:pPr>
            <a:r>
              <a:rPr lang="en-US" dirty="0"/>
              <a:t>Conclusion</a:t>
            </a:r>
          </a:p>
          <a:p>
            <a:pPr marL="285750" indent="-285750">
              <a:buFont typeface="Wingdings" panose="05000000000000000000" pitchFamily="2" charset="2"/>
              <a:buChar char="Ø"/>
            </a:pPr>
            <a:endParaRPr lang="en-IN" dirty="0"/>
          </a:p>
        </p:txBody>
      </p:sp>
      <p:pic>
        <p:nvPicPr>
          <p:cNvPr id="5" name="Picture 4">
            <a:extLst>
              <a:ext uri="{FF2B5EF4-FFF2-40B4-BE49-F238E27FC236}">
                <a16:creationId xmlns:a16="http://schemas.microsoft.com/office/drawing/2014/main" id="{47275012-CC7B-F3D3-01D6-57703B8FB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7737" y="1069702"/>
            <a:ext cx="6223519" cy="4058815"/>
          </a:xfrm>
          <a:prstGeom prst="rect">
            <a:avLst/>
          </a:prstGeom>
        </p:spPr>
      </p:pic>
    </p:spTree>
    <p:extLst>
      <p:ext uri="{BB962C8B-B14F-4D97-AF65-F5344CB8AC3E}">
        <p14:creationId xmlns:p14="http://schemas.microsoft.com/office/powerpoint/2010/main" val="3622237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br>
              <a:rPr lang="en-US" dirty="0"/>
            </a:br>
            <a:endParaRPr lang="en-US" dirty="0"/>
          </a:p>
        </p:txBody>
      </p:sp>
      <p:sp>
        <p:nvSpPr>
          <p:cNvPr id="3" name="Content Placeholder 2"/>
          <p:cNvSpPr>
            <a:spLocks noGrp="1"/>
          </p:cNvSpPr>
          <p:nvPr>
            <p:ph idx="1"/>
          </p:nvPr>
        </p:nvSpPr>
        <p:spPr>
          <a:xfrm>
            <a:off x="1875453" y="1296955"/>
            <a:ext cx="9629159" cy="4614267"/>
          </a:xfrm>
        </p:spPr>
        <p:txBody>
          <a:bodyPr>
            <a:normAutofit fontScale="47500" lnSpcReduction="20000"/>
          </a:bodyPr>
          <a:lstStyle/>
          <a:p>
            <a:pPr algn="just">
              <a:lnSpc>
                <a:spcPct val="100000"/>
              </a:lnSpc>
            </a:pPr>
            <a:r>
              <a:rPr lang="en-US" sz="3300" dirty="0">
                <a:latin typeface="Times New Roman" panose="02020603050405020304" pitchFamily="18" charset="0"/>
                <a:cs typeface="Times New Roman" panose="02020603050405020304" pitchFamily="18" charset="0"/>
              </a:rPr>
              <a:t>Zomato is an online platform that provides restaurant discovery and food delivery services.</a:t>
            </a:r>
            <a:r>
              <a:rPr lang="en-US" sz="3300" dirty="0">
                <a:effectLst/>
                <a:latin typeface="Times New Roman" panose="02020603050405020304" pitchFamily="18" charset="0"/>
                <a:ea typeface="Calibri" panose="020F0502020204030204" pitchFamily="34" charset="0"/>
                <a:cs typeface="Times New Roman" panose="02020603050405020304" pitchFamily="18" charset="0"/>
              </a:rPr>
              <a:t> sentiment analysis is one part of Natural Language Processing, that often used to analyze words based on the patterns of people in writing to find positive, negative, or neutral sentiments. Sentiment analysis is useful for knowing how users like something or not. Zomato is an application for rating restaurants. The rating has a review of the restaurant which can be used for sentiment analysis. The method used for preprocessing the review is to make all words lowercase, tokenization, remove numbers and punctuation, stop words, and lemmatization. Then after that, we create word to vector with the term frequency.inverse document frequency (TF-IDF). The data that we process are 150,000 reviews. After that make positive with reviews that have a rating of 3 and above, negative with reviews that have a rating of 3 and below, and neutral who have a rating of 3. The author uses Split Test, 80% Data Training and 20% Data Testing. The metrics used to determine random forest classifiers are precision, recall, and accuracy. The accuracy of this research is 92%. The 10 words that affect the results are: “bad”, “good”, “average”, “best”, “place”, “love”, “order”, “food”, “try”, and “nice” in today’s digital era where everybody has their own opinion and so can post various feedbacks .</a:t>
            </a:r>
          </a:p>
          <a:p>
            <a:pPr algn="just">
              <a:lnSpc>
                <a:spcPct val="150000"/>
              </a:lnSpc>
              <a:spcAft>
                <a:spcPts val="800"/>
              </a:spcAft>
            </a:pPr>
            <a:r>
              <a:rPr lang="en-US" sz="3300" dirty="0">
                <a:effectLst/>
                <a:latin typeface="Times New Roman" panose="02020603050405020304" pitchFamily="18" charset="0"/>
                <a:ea typeface="Calibri" panose="020F0502020204030204" pitchFamily="34" charset="0"/>
                <a:cs typeface="Times New Roman" panose="02020603050405020304" pitchFamily="18" charset="0"/>
              </a:rPr>
              <a:t>Key words: Food Reviews, NLP, Opinion Analysis, Sentiment,  Text Visualization</a:t>
            </a:r>
            <a:endParaRPr lang="en-IN"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br>
              <a:rPr lang="en-IN" sz="3300" b="1" dirty="0">
                <a:effectLst/>
                <a:latin typeface="Times New Roman" panose="02020603050405020304" pitchFamily="18" charset="0"/>
                <a:ea typeface="Times New Roman" panose="02020603050405020304" pitchFamily="18" charset="0"/>
              </a:rPr>
            </a:br>
            <a:r>
              <a:rPr lang="en-IN" sz="33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33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0000"/>
              </a:lnSpc>
            </a:pPr>
            <a:endParaRPr lang="en-US" dirty="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7437" y="286556"/>
            <a:ext cx="8915399" cy="885422"/>
          </a:xfrm>
        </p:spPr>
        <p:txBody>
          <a:bodyPr>
            <a:normAutofit/>
          </a:bodyPr>
          <a:lstStyle/>
          <a:p>
            <a:r>
              <a:rPr lang="en-US" sz="3600" b="1"/>
              <a:t>LITERATURE REVIEW:</a:t>
            </a:r>
            <a:endParaRPr lang="en-US" sz="3600" b="1" dirty="0"/>
          </a:p>
        </p:txBody>
      </p:sp>
      <p:sp>
        <p:nvSpPr>
          <p:cNvPr id="3" name="Subtitle 2"/>
          <p:cNvSpPr>
            <a:spLocks noGrp="1"/>
          </p:cNvSpPr>
          <p:nvPr>
            <p:ph type="subTitle" idx="1"/>
          </p:nvPr>
        </p:nvSpPr>
        <p:spPr>
          <a:xfrm>
            <a:off x="1867437" y="1532587"/>
            <a:ext cx="9637175" cy="4371076"/>
          </a:xfrm>
        </p:spPr>
        <p:txBody>
          <a:bodyPr/>
          <a:lstStyle/>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he literature survey section will provide an overview of the existing research on the sentimental analysis of rating and review  systems.  We  will  examine  various  studies  that  have  applied  sentimental  analysis  to  rating  and  review  systems,  and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analyse</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the different techniques and methods used</a:t>
            </a:r>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Trustworthiness of an e-vendor in the e-marketplace can be determined in multiple dimensions: product, price, and shipping. An e-vendor who has high trust level in more dimensions is more likely to have the competitive advantage than others. A consumer's review is analyzed to find its polarity in different dimensions. Positive sentiment in consumers' reviews helps increase the trustworthiness of e-vendors which in turn influences consumer’s purchase intention. I n t his p aper, we propose the method to automatically analyze Thai sentiment of consumer's review in product, price, and shipping dimensions by using multi-dimensional lexicon and sentiment compensation technique. A consumer's review in Thai language is tokenized using the longest matching algorithm. Then, it is analyzed to find its sentiment. Sentiment compensation technique is used to automatically compensate the sentiment to a dimension where consumer's review mentions the sentiment without a dimension. The results show that our proposed method outperform sentiment to dimension (S2D) and dimension to sentiment (D2S) methods with the overall accuracy 93.60%.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65430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charset="0"/>
                <a:cs typeface="Times New Roman" panose="02020603050405020304" charset="0"/>
              </a:rPr>
              <a:t>EXISITING SYSTEM</a:t>
            </a:r>
          </a:p>
        </p:txBody>
      </p:sp>
      <p:sp>
        <p:nvSpPr>
          <p:cNvPr id="3" name="Content Placeholder 2"/>
          <p:cNvSpPr>
            <a:spLocks noGrp="1"/>
          </p:cNvSpPr>
          <p:nvPr>
            <p:ph idx="1"/>
          </p:nvPr>
        </p:nvSpPr>
        <p:spPr>
          <a:xfrm>
            <a:off x="1348238" y="1201579"/>
            <a:ext cx="8915400" cy="5581776"/>
          </a:xfrm>
        </p:spPr>
        <p:txBody>
          <a:bodyPr>
            <a:normAutofit fontScale="25000" lnSpcReduction="20000"/>
          </a:bodyPr>
          <a:lstStyle/>
          <a:p>
            <a:pPr marL="0" indent="0" algn="just">
              <a:lnSpc>
                <a:spcPct val="100000"/>
              </a:lnSpc>
              <a:buNone/>
            </a:pPr>
            <a:endParaRPr lang="en-US" sz="6400" dirty="0">
              <a:solidFill>
                <a:schemeClr val="accent1">
                  <a:lumMod val="40000"/>
                  <a:lumOff val="60000"/>
                </a:schemeClr>
              </a:solidFill>
              <a:latin typeface="Times New Roman" panose="02020603050405020304" charset="0"/>
              <a:cs typeface="Times New Roman" panose="02020603050405020304" charset="0"/>
            </a:endParaRPr>
          </a:p>
          <a:p>
            <a:pPr marL="0" indent="0" algn="just">
              <a:lnSpc>
                <a:spcPct val="100000"/>
              </a:lnSpc>
              <a:buNone/>
            </a:pPr>
            <a:r>
              <a:rPr lang="en-US" sz="7200" dirty="0">
                <a:solidFill>
                  <a:srgbClr val="FFC000"/>
                </a:solidFill>
                <a:latin typeface="Times New Roman" panose="02020603050405020304" charset="0"/>
                <a:cs typeface="Times New Roman" panose="02020603050405020304" charset="0"/>
              </a:rPr>
              <a:t>Manual Review Analysis:</a:t>
            </a:r>
          </a:p>
          <a:p>
            <a:pPr marL="0" indent="0" algn="just">
              <a:lnSpc>
                <a:spcPct val="100000"/>
              </a:lnSpc>
              <a:buNone/>
            </a:pPr>
            <a:r>
              <a:rPr lang="en-US" sz="7200" dirty="0">
                <a:solidFill>
                  <a:srgbClr val="00B0F0"/>
                </a:solidFill>
                <a:latin typeface="Times New Roman" panose="02020603050405020304" charset="0"/>
                <a:cs typeface="Times New Roman" panose="02020603050405020304" charset="0"/>
              </a:rPr>
              <a:t>Process: </a:t>
            </a:r>
            <a:r>
              <a:rPr lang="en-US" sz="7200" dirty="0">
                <a:latin typeface="Times New Roman" panose="02020603050405020304" charset="0"/>
                <a:cs typeface="Times New Roman" panose="02020603050405020304" charset="0"/>
              </a:rPr>
              <a:t>Reviews are manually read and analyzed by human reviewers.</a:t>
            </a:r>
          </a:p>
          <a:p>
            <a:pPr marL="0" indent="0" algn="just">
              <a:lnSpc>
                <a:spcPct val="100000"/>
              </a:lnSpc>
              <a:buNone/>
            </a:pPr>
            <a:r>
              <a:rPr lang="en-US" sz="7200" dirty="0">
                <a:solidFill>
                  <a:srgbClr val="00B0F0"/>
                </a:solidFill>
                <a:latin typeface="Times New Roman" panose="02020603050405020304" charset="0"/>
                <a:cs typeface="Times New Roman" panose="02020603050405020304" charset="0"/>
              </a:rPr>
              <a:t>Disadvantages: </a:t>
            </a:r>
            <a:r>
              <a:rPr lang="en-US" sz="7200" dirty="0">
                <a:latin typeface="Times New Roman" panose="02020603050405020304" charset="0"/>
                <a:cs typeface="Times New Roman" panose="02020603050405020304" charset="0"/>
              </a:rPr>
              <a:t>This process is time-consuming, subjective, and may lead to inconsistencies in interpretation. It becomes impractical for large datasets with a high volume of reviews.</a:t>
            </a:r>
          </a:p>
          <a:p>
            <a:pPr marL="0" indent="0" algn="just">
              <a:lnSpc>
                <a:spcPct val="100000"/>
              </a:lnSpc>
              <a:buNone/>
            </a:pPr>
            <a:r>
              <a:rPr lang="en-US" sz="7200" dirty="0">
                <a:solidFill>
                  <a:srgbClr val="FFC000"/>
                </a:solidFill>
                <a:latin typeface="Times New Roman" panose="02020603050405020304" charset="0"/>
                <a:cs typeface="Times New Roman" panose="02020603050405020304" charset="0"/>
              </a:rPr>
              <a:t>Simple Rating Averaging:</a:t>
            </a:r>
          </a:p>
          <a:p>
            <a:pPr marL="0" indent="0" algn="just">
              <a:lnSpc>
                <a:spcPct val="100000"/>
              </a:lnSpc>
              <a:buNone/>
            </a:pPr>
            <a:r>
              <a:rPr lang="en-US" sz="7200" dirty="0">
                <a:solidFill>
                  <a:srgbClr val="00B0F0"/>
                </a:solidFill>
                <a:latin typeface="Times New Roman" panose="02020603050405020304" charset="0"/>
                <a:cs typeface="Times New Roman" panose="02020603050405020304" charset="0"/>
              </a:rPr>
              <a:t>Process: </a:t>
            </a:r>
            <a:r>
              <a:rPr lang="en-US" sz="7200" dirty="0">
                <a:latin typeface="Times New Roman" panose="02020603050405020304" charset="0"/>
                <a:cs typeface="Times New Roman" panose="02020603050405020304" charset="0"/>
              </a:rPr>
              <a:t>Ratings given by users are averaged to get an overall score for a restaurant.</a:t>
            </a:r>
          </a:p>
          <a:p>
            <a:pPr marL="0" indent="0" algn="just">
              <a:lnSpc>
                <a:spcPct val="100000"/>
              </a:lnSpc>
              <a:buNone/>
            </a:pPr>
            <a:r>
              <a:rPr lang="en-US" sz="7200" dirty="0">
                <a:solidFill>
                  <a:srgbClr val="00B0F0"/>
                </a:solidFill>
                <a:latin typeface="Times New Roman" panose="02020603050405020304" charset="0"/>
                <a:cs typeface="Times New Roman" panose="02020603050405020304" charset="0"/>
              </a:rPr>
              <a:t>Disadvantages:</a:t>
            </a:r>
            <a:r>
              <a:rPr lang="en-US" sz="7200" dirty="0">
                <a:latin typeface="Times New Roman" panose="02020603050405020304" charset="0"/>
                <a:cs typeface="Times New Roman" panose="02020603050405020304" charset="0"/>
              </a:rPr>
              <a:t> This approach oversimplifies the sentiment analysis, ignoring the nuances present in the text of reviews. It doesn't capture the sentiment behind the ratings effectively.</a:t>
            </a:r>
          </a:p>
          <a:p>
            <a:pPr marL="0" indent="0" algn="just">
              <a:lnSpc>
                <a:spcPct val="100000"/>
              </a:lnSpc>
              <a:buNone/>
            </a:pPr>
            <a:r>
              <a:rPr lang="en-US" sz="7200" dirty="0">
                <a:solidFill>
                  <a:srgbClr val="FFC000"/>
                </a:solidFill>
                <a:latin typeface="Times New Roman" panose="02020603050405020304" charset="0"/>
                <a:cs typeface="Times New Roman" panose="02020603050405020304" charset="0"/>
              </a:rPr>
              <a:t>Keyword-Based Analysis:</a:t>
            </a:r>
          </a:p>
          <a:p>
            <a:pPr marL="0" indent="0" algn="just">
              <a:lnSpc>
                <a:spcPct val="100000"/>
              </a:lnSpc>
              <a:buNone/>
            </a:pPr>
            <a:r>
              <a:rPr lang="en-US" sz="7200" dirty="0">
                <a:solidFill>
                  <a:srgbClr val="00B0F0"/>
                </a:solidFill>
                <a:latin typeface="Times New Roman" panose="02020603050405020304" charset="0"/>
                <a:cs typeface="Times New Roman" panose="02020603050405020304" charset="0"/>
              </a:rPr>
              <a:t>Process:</a:t>
            </a:r>
            <a:r>
              <a:rPr lang="en-US" sz="7200" dirty="0">
                <a:latin typeface="Times New Roman" panose="02020603050405020304" charset="0"/>
                <a:cs typeface="Times New Roman" panose="02020603050405020304" charset="0"/>
              </a:rPr>
              <a:t> Identifying certain keywords to categorize reviews as positive or negative.</a:t>
            </a:r>
          </a:p>
          <a:p>
            <a:pPr marL="0" indent="0" algn="just">
              <a:lnSpc>
                <a:spcPct val="100000"/>
              </a:lnSpc>
              <a:buNone/>
            </a:pPr>
            <a:r>
              <a:rPr lang="en-US" sz="7200" dirty="0">
                <a:solidFill>
                  <a:srgbClr val="00B0F0"/>
                </a:solidFill>
                <a:latin typeface="Times New Roman" panose="02020603050405020304" charset="0"/>
                <a:cs typeface="Times New Roman" panose="02020603050405020304" charset="0"/>
              </a:rPr>
              <a:t>Disadvantages:</a:t>
            </a:r>
            <a:r>
              <a:rPr lang="en-US" sz="7200" dirty="0">
                <a:latin typeface="Times New Roman" panose="02020603050405020304" charset="0"/>
                <a:cs typeface="Times New Roman" panose="02020603050405020304" charset="0"/>
              </a:rPr>
              <a:t> Lacks sophistication and might miss the subtleties of language. New and evolving sentiments may not be captured using fixed keyword lists.</a:t>
            </a:r>
          </a:p>
          <a:p>
            <a:pPr marL="0" indent="0" algn="just">
              <a:lnSpc>
                <a:spcPct val="100000"/>
              </a:lnSpc>
              <a:buNone/>
            </a:pPr>
            <a:r>
              <a:rPr lang="en-US" sz="7200" dirty="0">
                <a:solidFill>
                  <a:srgbClr val="FFC000"/>
                </a:solidFill>
                <a:latin typeface="Times New Roman" panose="02020603050405020304" charset="0"/>
                <a:cs typeface="Times New Roman" panose="02020603050405020304" charset="0"/>
              </a:rPr>
              <a:t>Limited Natural Language Processing (NLP):</a:t>
            </a:r>
          </a:p>
          <a:p>
            <a:pPr marL="0" indent="0" algn="just">
              <a:lnSpc>
                <a:spcPct val="100000"/>
              </a:lnSpc>
              <a:buNone/>
            </a:pPr>
            <a:r>
              <a:rPr lang="en-US" sz="7200" dirty="0">
                <a:solidFill>
                  <a:srgbClr val="00B0F0"/>
                </a:solidFill>
                <a:latin typeface="Times New Roman" panose="02020603050405020304" charset="0"/>
                <a:cs typeface="Times New Roman" panose="02020603050405020304" charset="0"/>
              </a:rPr>
              <a:t>Process: </a:t>
            </a:r>
            <a:r>
              <a:rPr lang="en-US" sz="7200" dirty="0">
                <a:latin typeface="Times New Roman" panose="02020603050405020304" charset="0"/>
                <a:cs typeface="Times New Roman" panose="02020603050405020304" charset="0"/>
              </a:rPr>
              <a:t>Basic NLP techniques, such as tokenization and stemming, may be employed for sentiment analysis.</a:t>
            </a:r>
          </a:p>
          <a:p>
            <a:pPr marL="0" indent="0" algn="just">
              <a:lnSpc>
                <a:spcPct val="100000"/>
              </a:lnSpc>
              <a:buNone/>
            </a:pPr>
            <a:r>
              <a:rPr lang="en-US" sz="7200" dirty="0">
                <a:solidFill>
                  <a:srgbClr val="00B0F0"/>
                </a:solidFill>
                <a:latin typeface="Times New Roman" panose="02020603050405020304" charset="0"/>
                <a:cs typeface="Times New Roman" panose="02020603050405020304" charset="0"/>
              </a:rPr>
              <a:t>Disadvantages: </a:t>
            </a:r>
            <a:r>
              <a:rPr lang="en-US" sz="7200" dirty="0">
                <a:latin typeface="Times New Roman" panose="02020603050405020304" charset="0"/>
                <a:cs typeface="Times New Roman" panose="02020603050405020304" charset="0"/>
              </a:rPr>
              <a:t>Limited ability to understand the context and sentiment expressed in more complex sentences. May struggle with sarcasm, negation, or mixed sentiments.</a:t>
            </a:r>
          </a:p>
          <a:p>
            <a:pPr marL="0" indent="0" algn="just">
              <a:lnSpc>
                <a:spcPct val="100000"/>
              </a:lnSpc>
              <a:buNone/>
            </a:pPr>
            <a:endParaRPr lang="en-US" sz="2400" dirty="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ECA54C-57D0-3472-D751-4C78F66845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0810" y="402382"/>
            <a:ext cx="4115190" cy="3026618"/>
          </a:xfrm>
          <a:prstGeom prst="rect">
            <a:avLst/>
          </a:prstGeom>
        </p:spPr>
      </p:pic>
      <p:pic>
        <p:nvPicPr>
          <p:cNvPr id="5" name="Picture 4">
            <a:extLst>
              <a:ext uri="{FF2B5EF4-FFF2-40B4-BE49-F238E27FC236}">
                <a16:creationId xmlns:a16="http://schemas.microsoft.com/office/drawing/2014/main" id="{39D57F55-192B-D4D7-9D72-003DC27DD2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1152" y="219270"/>
            <a:ext cx="5007621" cy="4184779"/>
          </a:xfrm>
          <a:prstGeom prst="rect">
            <a:avLst/>
          </a:prstGeom>
        </p:spPr>
      </p:pic>
    </p:spTree>
    <p:extLst>
      <p:ext uri="{BB962C8B-B14F-4D97-AF65-F5344CB8AC3E}">
        <p14:creationId xmlns:p14="http://schemas.microsoft.com/office/powerpoint/2010/main" val="189221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9113" y="852710"/>
            <a:ext cx="8911687" cy="1280890"/>
          </a:xfrm>
        </p:spPr>
        <p:txBody>
          <a:bodyPr/>
          <a:lstStyle/>
          <a:p>
            <a:r>
              <a:rPr lang="en-US" sz="4000" b="1" dirty="0">
                <a:latin typeface="Times New Roman" panose="02020603050405020304" charset="0"/>
                <a:cs typeface="Times New Roman" panose="02020603050405020304" charset="0"/>
              </a:rPr>
              <a:t>PROPOSED SYSTEM</a:t>
            </a:r>
          </a:p>
        </p:txBody>
      </p:sp>
      <p:sp>
        <p:nvSpPr>
          <p:cNvPr id="3" name="Content Placeholder 2"/>
          <p:cNvSpPr>
            <a:spLocks noGrp="1"/>
          </p:cNvSpPr>
          <p:nvPr>
            <p:ph idx="1"/>
          </p:nvPr>
        </p:nvSpPr>
        <p:spPr>
          <a:xfrm>
            <a:off x="1361284" y="1894113"/>
            <a:ext cx="8911687" cy="4618653"/>
          </a:xfrm>
        </p:spPr>
        <p:txBody>
          <a:bodyPr>
            <a:noAutofit/>
          </a:bodyPr>
          <a:lstStyle/>
          <a:p>
            <a:pPr marL="0" indent="0" algn="l">
              <a:buNone/>
            </a:pPr>
            <a:r>
              <a:rPr lang="en-US" i="0" dirty="0">
                <a:effectLst/>
                <a:latin typeface="Times New Roman" panose="02020603050405020304" pitchFamily="18" charset="0"/>
                <a:cs typeface="Times New Roman" panose="02020603050405020304" pitchFamily="18" charset="0"/>
              </a:rPr>
              <a:t>the proposed improvements aim to overcome the limitations of the existing system by introducing automation, advanced analytics, and machine learning techniques for more accurate and insightful sentiment analysis of Zomato restaurant reviews.</a:t>
            </a:r>
          </a:p>
          <a:p>
            <a:pPr marL="0" indent="0" algn="l">
              <a:buNone/>
            </a:pPr>
            <a:r>
              <a:rPr lang="en-US" i="0" dirty="0">
                <a:solidFill>
                  <a:schemeClr val="accent1">
                    <a:lumMod val="60000"/>
                    <a:lumOff val="40000"/>
                  </a:schemeClr>
                </a:solidFill>
                <a:effectLst/>
                <a:latin typeface="Times New Roman" panose="02020603050405020304" pitchFamily="18" charset="0"/>
                <a:cs typeface="Times New Roman" panose="02020603050405020304" pitchFamily="18" charset="0"/>
              </a:rPr>
              <a:t>Proposed System Improvements:</a:t>
            </a:r>
          </a:p>
          <a:p>
            <a:pPr marL="0" indent="0" algn="l">
              <a:buNone/>
            </a:pPr>
            <a:r>
              <a:rPr lang="en-US" i="0" dirty="0">
                <a:solidFill>
                  <a:srgbClr val="92D050"/>
                </a:solidFill>
                <a:effectLst/>
                <a:latin typeface="Times New Roman" panose="02020603050405020304" pitchFamily="18" charset="0"/>
                <a:cs typeface="Times New Roman" panose="02020603050405020304" pitchFamily="18" charset="0"/>
              </a:rPr>
              <a:t>Automated Sentiment Analysis: </a:t>
            </a:r>
            <a:r>
              <a:rPr lang="en-US" i="0" dirty="0">
                <a:effectLst/>
                <a:latin typeface="Times New Roman" panose="02020603050405020304" pitchFamily="18" charset="0"/>
                <a:cs typeface="Times New Roman" panose="02020603050405020304" pitchFamily="18" charset="0"/>
              </a:rPr>
              <a:t>Implementation of advanced NLP and machine learning models for automated sentiment analysis.</a:t>
            </a:r>
          </a:p>
          <a:p>
            <a:pPr marL="0" indent="0" algn="l">
              <a:buNone/>
            </a:pPr>
            <a:r>
              <a:rPr lang="en-US" i="0" dirty="0">
                <a:solidFill>
                  <a:srgbClr val="92D050"/>
                </a:solidFill>
                <a:effectLst/>
                <a:latin typeface="Times New Roman" panose="02020603050405020304" pitchFamily="18" charset="0"/>
                <a:cs typeface="Times New Roman" panose="02020603050405020304" pitchFamily="18" charset="0"/>
              </a:rPr>
              <a:t>Clustering for Insights: </a:t>
            </a:r>
            <a:r>
              <a:rPr lang="en-US" i="0" dirty="0">
                <a:effectLst/>
                <a:latin typeface="Times New Roman" panose="02020603050405020304" pitchFamily="18" charset="0"/>
                <a:cs typeface="Times New Roman" panose="02020603050405020304" pitchFamily="18" charset="0"/>
              </a:rPr>
              <a:t>Utilization of unsupervised learning for clustering restaurants, providing valuable insights into restaurant distribution and characteristics.</a:t>
            </a:r>
          </a:p>
          <a:p>
            <a:pPr marL="0" indent="0" algn="l">
              <a:buNone/>
            </a:pPr>
            <a:r>
              <a:rPr lang="en-US" i="0" dirty="0">
                <a:solidFill>
                  <a:srgbClr val="92D050"/>
                </a:solidFill>
                <a:effectLst/>
                <a:latin typeface="Times New Roman" panose="02020603050405020304" pitchFamily="18" charset="0"/>
                <a:cs typeface="Times New Roman" panose="02020603050405020304" pitchFamily="18" charset="0"/>
              </a:rPr>
              <a:t>Scalability: </a:t>
            </a:r>
            <a:r>
              <a:rPr lang="en-US" i="0" dirty="0">
                <a:effectLst/>
                <a:latin typeface="Times New Roman" panose="02020603050405020304" pitchFamily="18" charset="0"/>
                <a:cs typeface="Times New Roman" panose="02020603050405020304" pitchFamily="18" charset="0"/>
              </a:rPr>
              <a:t>Addressing the challenge of scale through automated and efficient analysis techniques.</a:t>
            </a:r>
          </a:p>
          <a:p>
            <a:pPr marL="0" indent="0" algn="l">
              <a:buNone/>
            </a:pPr>
            <a:r>
              <a:rPr lang="en-US" i="0" dirty="0">
                <a:solidFill>
                  <a:srgbClr val="92D050"/>
                </a:solidFill>
                <a:effectLst/>
                <a:latin typeface="Times New Roman" panose="02020603050405020304" pitchFamily="18" charset="0"/>
                <a:cs typeface="Times New Roman" panose="02020603050405020304" pitchFamily="18" charset="0"/>
              </a:rPr>
              <a:t>Adaptability:</a:t>
            </a:r>
            <a:r>
              <a:rPr lang="en-US" i="0" dirty="0">
                <a:effectLst/>
                <a:latin typeface="Times New Roman" panose="02020603050405020304" pitchFamily="18" charset="0"/>
                <a:cs typeface="Times New Roman" panose="02020603050405020304" pitchFamily="18" charset="0"/>
              </a:rPr>
              <a:t> Integration of models capable of adapting to evolving linguistic patterns and emerging sentiments.</a:t>
            </a:r>
          </a:p>
          <a:p>
            <a:pPr marL="0" indent="0" algn="l">
              <a:buNone/>
            </a:pPr>
            <a:r>
              <a:rPr lang="en-US" i="0" dirty="0">
                <a:solidFill>
                  <a:srgbClr val="92D050"/>
                </a:solidFill>
                <a:effectLst/>
                <a:latin typeface="Times New Roman" panose="02020603050405020304" pitchFamily="18" charset="0"/>
                <a:cs typeface="Times New Roman" panose="02020603050405020304" pitchFamily="18" charset="0"/>
              </a:rPr>
              <a:t>Comprehensive Understanding: </a:t>
            </a:r>
            <a:r>
              <a:rPr lang="en-US" i="0" dirty="0">
                <a:effectLst/>
                <a:latin typeface="Times New Roman" panose="02020603050405020304" pitchFamily="18" charset="0"/>
                <a:cs typeface="Times New Roman" panose="02020603050405020304" pitchFamily="18" charset="0"/>
              </a:rPr>
              <a:t>A more holistic approach towards understanding user behavior and preferences based on reviews.</a:t>
            </a:r>
          </a:p>
        </p:txBody>
      </p:sp>
      <p:sp>
        <p:nvSpPr>
          <p:cNvPr id="4" name="Rectangle 1">
            <a:extLst>
              <a:ext uri="{FF2B5EF4-FFF2-40B4-BE49-F238E27FC236}">
                <a16:creationId xmlns:a16="http://schemas.microsoft.com/office/drawing/2014/main" id="{5A14C4FE-3E29-0E79-A4F5-4FA06034380C}"/>
              </a:ext>
            </a:extLst>
          </p:cNvPr>
          <p:cNvSpPr>
            <a:spLocks noChangeArrowheads="1"/>
          </p:cNvSpPr>
          <p:nvPr/>
        </p:nvSpPr>
        <p:spPr bwMode="auto">
          <a:xfrm>
            <a:off x="0" y="0"/>
            <a:ext cx="12192000" cy="45720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the proposed improvements aim to overcome the limitations of the existing system by introducing automation, advanced analytics, and machine learning techniques for more accurate and insightful sentiment analysis of Zomato restaurant reviews.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6183371C-B3BD-DC8B-0929-B346A89DB3F6}"/>
              </a:ext>
            </a:extLst>
          </p:cNvPr>
          <p:cNvSpPr>
            <a:spLocks noChangeArrowheads="1"/>
          </p:cNvSpPr>
          <p:nvPr/>
        </p:nvSpPr>
        <p:spPr bwMode="auto">
          <a:xfrm>
            <a:off x="152400" y="152400"/>
            <a:ext cx="12192000" cy="457200"/>
          </a:xfrm>
          <a:prstGeom prst="rect">
            <a:avLst/>
          </a:prstGeom>
          <a:solidFill>
            <a:srgbClr val="34354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Söhne"/>
              </a:rPr>
              <a:t>the proposed improvements aim to overcome the limitations of the existing system by introducing automation, advanced analytics, and machine learning techniques for more accurate and insightful sentiment analysis of Zomato restaurant reviews.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Söhne"/>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ARCHITECTURE</a:t>
            </a:r>
          </a:p>
        </p:txBody>
      </p:sp>
      <p:pic>
        <p:nvPicPr>
          <p:cNvPr id="11" name="Picture 10">
            <a:extLst>
              <a:ext uri="{FF2B5EF4-FFF2-40B4-BE49-F238E27FC236}">
                <a16:creationId xmlns:a16="http://schemas.microsoft.com/office/drawing/2014/main" id="{2194920E-DD9D-1104-E173-9F93816681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5679" y="1483566"/>
            <a:ext cx="3300642" cy="50851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p>
        </p:txBody>
      </p:sp>
      <p:sp>
        <p:nvSpPr>
          <p:cNvPr id="3" name="Content Placeholder 2"/>
          <p:cNvSpPr>
            <a:spLocks noGrp="1"/>
          </p:cNvSpPr>
          <p:nvPr>
            <p:ph idx="1"/>
          </p:nvPr>
        </p:nvSpPr>
        <p:spPr>
          <a:xfrm>
            <a:off x="1852094" y="1905000"/>
            <a:ext cx="8915400" cy="3777622"/>
          </a:xfrm>
        </p:spPr>
        <p:txBody>
          <a:bodyPr>
            <a:normAutofit/>
          </a:bodyPr>
          <a:lstStyle/>
          <a:p>
            <a:pPr algn="just"/>
            <a:r>
              <a:rPr lang="en-US" dirty="0">
                <a:latin typeface="Times New Roman" panose="02020603050405020304" pitchFamily="18" charset="0"/>
                <a:cs typeface="Times New Roman" panose="02020603050405020304" pitchFamily="18" charset="0"/>
              </a:rPr>
              <a:t> In the new digital era where large amounts of datasets are budding on the globe, to analyze the same and extract the result is getting popular. While building the paper, we studied a lot of research in a statistical manner to understand the need and greed of visualizing the dataset. For the same, a large number of researches have been taken into count. Using Python integrated with Tableau, we tried to represent about 1000 reviews from Zomato’s restaurant using visualization. Various techniques to visualize the dataset have been used for saving valuable user’s and restaurant owner’s time in the term of knowing the major quality of reviews of the restaurant is whether positive, neutral, or negative. Users can easily compare the highest-rated restaurant in his/her locality. Also, he/she can find localities with the most suitable cuisines restaurants.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A8E924-F92E-BA20-5D7B-438503BF4A93}"/>
              </a:ext>
            </a:extLst>
          </p:cNvPr>
          <p:cNvSpPr>
            <a:spLocks noGrp="1"/>
          </p:cNvSpPr>
          <p:nvPr>
            <p:ph idx="1"/>
          </p:nvPr>
        </p:nvSpPr>
        <p:spPr/>
        <p:txBody>
          <a:bodyPr>
            <a:normAutofit/>
          </a:bodyPr>
          <a:lstStyle/>
          <a:p>
            <a:pPr marL="0" indent="0" algn="ctr">
              <a:buNone/>
            </a:pPr>
            <a:r>
              <a:rPr lang="en-US" sz="4000" dirty="0">
                <a:solidFill>
                  <a:srgbClr val="FF0000"/>
                </a:solidFill>
              </a:rPr>
              <a:t>THANK YOU</a:t>
            </a:r>
            <a:endParaRPr lang="en-IN" sz="4000" dirty="0">
              <a:solidFill>
                <a:srgbClr val="FF0000"/>
              </a:solidFill>
            </a:endParaRPr>
          </a:p>
        </p:txBody>
      </p:sp>
    </p:spTree>
    <p:extLst>
      <p:ext uri="{BB962C8B-B14F-4D97-AF65-F5344CB8AC3E}">
        <p14:creationId xmlns:p14="http://schemas.microsoft.com/office/powerpoint/2010/main" val="211603550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312</TotalTime>
  <Words>1119</Words>
  <Application>Microsoft Office PowerPoint</Application>
  <PresentationFormat>Widescreen</PresentationFormat>
  <Paragraphs>50</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Century Gothic</vt:lpstr>
      <vt:lpstr>Söhne</vt:lpstr>
      <vt:lpstr>Times New Roman</vt:lpstr>
      <vt:lpstr>Wingdings</vt:lpstr>
      <vt:lpstr>Wingdings 3</vt:lpstr>
      <vt:lpstr>Wisp</vt:lpstr>
      <vt:lpstr> ZOMATO RESTAURENT REVIEWS AND SENTIMENT ANALYSIS</vt:lpstr>
      <vt:lpstr>PowerPoint Presentation</vt:lpstr>
      <vt:lpstr>ABSTRACT </vt:lpstr>
      <vt:lpstr>LITERATURE REVIEW:</vt:lpstr>
      <vt:lpstr>EXISITING SYSTEM</vt:lpstr>
      <vt:lpstr>PowerPoint Presentation</vt:lpstr>
      <vt:lpstr>PROPOSED SYSTEM</vt:lpstr>
      <vt:lpstr>SYSTEM ARCHITECTURE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TEXT-BASED PERSONALITY TRAIT ANALYSIS USING HYBRID DEEP LEARNING APPROACH</dc:title>
  <dc:creator>User</dc:creator>
  <cp:lastModifiedBy>ANJALI BADAVATH</cp:lastModifiedBy>
  <cp:revision>11</cp:revision>
  <dcterms:created xsi:type="dcterms:W3CDTF">2023-09-25T05:54:00Z</dcterms:created>
  <dcterms:modified xsi:type="dcterms:W3CDTF">2024-05-03T05:26:47Z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109EA205791E4070B963B164E813D90E_11</vt:lpwstr>
  </property>
  <property fmtid="{D5CDD505-2E9C-101B-9397-08002B2CF9AE}" pid="3" name="KSOProductBuildVer">
    <vt:lpwstr>1033-12.2.0.13215</vt:lpwstr>
  </property>
</Properties>
</file>